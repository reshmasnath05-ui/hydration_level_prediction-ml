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152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FB850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Hydrated (~55%)</c:v>
                </c:pt>
                <c:pt idx="1">
                  <c:v>At Risk (~45%)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11798</c:v>
                </c:pt>
                <c:pt idx="1">
                  <c:v>9652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8821888"/>
        <c:axId val="188824960"/>
      </c:barChart>
      <c:catAx>
        <c:axId val="188821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D8"/>
                </a:solidFill>
                <a:latin typeface="Arial"/>
              </a:defRPr>
            </a:pPr>
            <a:endParaRPr lang="en-US"/>
          </a:p>
        </c:txPr>
        <c:crossAx val="188824960"/>
        <c:crosses val="autoZero"/>
        <c:auto val="1"/>
        <c:lblAlgn val="ctr"/>
        <c:lblOffset val="100"/>
        <c:noMultiLvlLbl val="1"/>
      </c:catAx>
      <c:valAx>
        <c:axId val="18882496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D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D8"/>
                </a:solidFill>
                <a:latin typeface="Arial"/>
              </a:defRPr>
            </a:pPr>
            <a:endParaRPr lang="en-US"/>
          </a:p>
        </c:txPr>
        <c:crossAx val="188821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346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0E0E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90E0EF"/>
                </a:solidFill>
                <a:latin typeface="Arial"/>
              </a:rPr>
              <a:t>Accuracy Comparison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0CAD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8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Gradient Boosting</c:v>
                </c:pt>
                <c:pt idx="1">
                  <c:v>Logistic Regression</c:v>
                </c:pt>
                <c:pt idx="2">
                  <c:v>XGBoost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76.25</c:v>
                </c:pt>
                <c:pt idx="1">
                  <c:v>75.91</c:v>
                </c:pt>
                <c:pt idx="2">
                  <c:v>76.59</c:v>
                </c:pt>
                <c:pt idx="3">
                  <c:v>78.84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9377920"/>
        <c:axId val="189435264"/>
      </c:barChart>
      <c:catAx>
        <c:axId val="189377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D8"/>
                </a:solidFill>
                <a:latin typeface="Arial"/>
              </a:defRPr>
            </a:pPr>
            <a:endParaRPr lang="en-US"/>
          </a:p>
        </c:txPr>
        <c:crossAx val="189435264"/>
        <c:crosses val="autoZero"/>
        <c:auto val="1"/>
        <c:lblAlgn val="ctr"/>
        <c:lblOffset val="100"/>
        <c:noMultiLvlLbl val="1"/>
      </c:catAx>
      <c:valAx>
        <c:axId val="189435264"/>
        <c:scaling>
          <c:orientation val="minMax"/>
          <c:max val="80"/>
          <c:min val="70"/>
        </c:scaling>
        <c:delete val="0"/>
        <c:axPos val="b"/>
        <c:majorGridlines>
          <c:spPr>
            <a:ln w="6350" cap="flat">
              <a:solidFill>
                <a:srgbClr val="1A3D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D8"/>
                </a:solidFill>
                <a:latin typeface="Arial"/>
              </a:defRPr>
            </a:pPr>
            <a:endParaRPr lang="en-US"/>
          </a:p>
        </c:txPr>
        <c:crossAx val="189377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346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9BBB9-048E-4B42-8CC6-A8E58F01AFAC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CD9C7-C29C-4BE7-8160-DD9E5C24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67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45720" tIns="22860" rIns="45720" bIns="2286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45720" tIns="22860" rIns="45720" bIns="2286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45720" tIns="22860" rIns="45720" bIns="2286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45720" tIns="22860" rIns="45720" bIns="2286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45720" tIns="22860" rIns="45720" bIns="2286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822960"/>
            <a:ext cx="1554480" cy="15544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545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4680" y="314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</a:t>
            </a:r>
            <a:r>
              <a:rPr lang="en-US" sz="4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Prediction :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Data Science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2743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6060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B8500">
              <a:alpha val="25000"/>
            </a:srgbClr>
          </a:solidFill>
          <a:ln w="12700">
            <a:solidFill>
              <a:srgbClr val="FB850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6060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21,450 records  •  5 Features  •  Binary Target: Hydrated / At </a:t>
            </a:r>
            <a:r>
              <a:rPr lang="en-US" sz="1300" dirty="0" smtClean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Dehydration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326467"/>
            <a:ext cx="9144000" cy="817033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38385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RESHMA S NATH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</a:t>
            </a:r>
            <a:r>
              <a:rPr lang="en-US" sz="16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is critical to physical health, athletic performance, and daily wellbeing. Many people remain unaware of their hydration status.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777240"/>
            <a:ext cx="73152" cy="178308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n-US" sz="1600" b="1" dirty="0" smtClean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9472" y="12801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 of hydration is impractical at scale. An automated, data-driven approach is essential for accurate and timely prediction.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4640"/>
            <a:ext cx="73152" cy="1783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US" sz="16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" y="3337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algorithms can predict whether an individual is Hydrated or At Risk based on physiological attributes.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34640"/>
            <a:ext cx="73152" cy="1783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600" b="1" dirty="0" smtClean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9472" y="3337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4 ML classifiers — Logistic Regression, Random Forest, XGBoost, Gradient </a:t>
            </a:r>
            <a:r>
              <a:rPr lang="en-US" sz="12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identify the best model.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29184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Level Prediction Dataset (CSV)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3291840" cy="457200"/>
          </a:xfrm>
          <a:prstGeom prst="rect">
            <a:avLst/>
          </a:prstGeom>
          <a:solidFill>
            <a:srgbClr val="0D3461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21,450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329184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94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249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3291840" cy="457200"/>
          </a:xfrm>
          <a:prstGeom prst="rect">
            <a:avLst/>
          </a:prstGeom>
          <a:solidFill>
            <a:srgbClr val="0D3461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97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779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Hydrated / At Risk of Dehydration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329184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101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310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input variables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3291840" cy="457200"/>
          </a:xfrm>
          <a:prstGeom prst="rect">
            <a:avLst/>
          </a:prstGeom>
          <a:solidFill>
            <a:srgbClr val="0D3461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nulls checked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Target Variable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88720"/>
          <a:ext cx="5029200" cy="288036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00584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individual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weight in kilograms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Water Intake 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Litres consumed per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Activity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Moderate /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Hydration Level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Hydrated / At Risk of Dehydration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778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77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dataset using pandas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(21,450 records)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877824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77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18562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null values; removed duplicates; verified integrity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8046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77824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77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8562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correlation heatmap, distribution plots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8046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FB85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877824"/>
            <a:ext cx="502920" cy="502920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877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18562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categorical; Standard Scaling for numerical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28620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35224"/>
            <a:ext cx="502920" cy="5029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39136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SMOTE to handle class imbalance before split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28620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90E0EF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2935224"/>
            <a:ext cx="502920" cy="5029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1460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14600" y="39136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(random_state=42)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28620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9352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916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39136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classifiers: LR, RF, XGBoost, Gradient </a:t>
            </a:r>
            <a:r>
              <a:rPr lang="en-US" sz="105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12280" y="2862072"/>
            <a:ext cx="201168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2935224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3720" y="39136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via pickle; deployed with Gradio UI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Level Distribution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114300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777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1143000"/>
            <a:ext cx="438912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0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21,450 records × 7 columns explored via df.shape, df.info(), df.describe()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438912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1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from 18–59; fairly uniform distribution across age groups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80560" y="2514600"/>
            <a:ext cx="438912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Intake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intake 0.5–5.0 litres; strong predictor of hydration status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80560" y="3200400"/>
            <a:ext cx="438912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3200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Correlation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 &amp; Physical Activity revealed as strongest numerical correlates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0560" y="3886200"/>
            <a:ext cx="438912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3886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Categorical Features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(M/F), Activity Level (Low/Moderate/High) — label-encoded before training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Transformation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 Missing Values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missing values found in the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73152" cy="1325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Remove Duplicates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26187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Duplicate rows identified and removed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26771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267712"/>
            <a:ext cx="73152" cy="1325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Label Encoding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72491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le.fit_transform(col) for categorical cols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Gender, Activity Level, Target encoded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6771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FB85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267712"/>
            <a:ext cx="73152" cy="132588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Feature Scaling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72491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→ Weight, Water Intake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Continuous features normalized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73075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730752"/>
            <a:ext cx="73152" cy="13258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SMOTE Balancing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418795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SMOTE(random_state=42).fit_resample(x, 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645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Class balance achieved before splitting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730752"/>
            <a:ext cx="416052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90E0E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730752"/>
            <a:ext cx="73152" cy="13258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Train-Test Split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4187952"/>
            <a:ext cx="3794760" cy="347472"/>
          </a:xfrm>
          <a:prstGeom prst="rect">
            <a:avLst/>
          </a:prstGeom>
          <a:solidFill>
            <a:srgbClr val="081A2E"/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test_size=0.2, random_state=42)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645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80% train / 20% test split applied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2668"/>
            <a:ext cx="4251960" cy="1965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42519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418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</a:t>
            </a:r>
            <a:r>
              <a:rPr lang="en-US" sz="16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</a:t>
            </a: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63240" y="969264"/>
            <a:ext cx="1307592" cy="320040"/>
          </a:xfrm>
          <a:prstGeom prst="roundRect">
            <a:avLst>
              <a:gd name="adj" fmla="val 22857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9692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using sigmoid function for binary output. Fast, interpretable, and works well with scaled structured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176272"/>
            <a:ext cx="4005072" cy="475488"/>
          </a:xfrm>
          <a:prstGeom prst="rect">
            <a:avLst/>
          </a:prstGeom>
          <a:solidFill>
            <a:srgbClr val="081A2E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76272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LogisticRegression(random_state=42, max_iter=1000)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251960" cy="1965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04672"/>
            <a:ext cx="42519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9418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</a:t>
            </a:r>
            <a:r>
              <a:rPr lang="en-US" sz="16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</a:t>
            </a: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43800" y="969264"/>
            <a:ext cx="1307592" cy="320040"/>
          </a:xfrm>
          <a:prstGeom prst="roundRect">
            <a:avLst>
              <a:gd name="adj" fmla="val 22857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9692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18888" y="139903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using bagging. Reduces overfitting, handles complex patterns, provides feature importance.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18888" y="2176272"/>
            <a:ext cx="4005072" cy="475488"/>
          </a:xfrm>
          <a:prstGeom prst="rect">
            <a:avLst/>
          </a:prstGeom>
          <a:solidFill>
            <a:srgbClr val="081A2E"/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176272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RandomForestClassifier(random_state=42)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907792"/>
            <a:ext cx="4251960" cy="1965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07792"/>
            <a:ext cx="425196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044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63240" y="3072384"/>
            <a:ext cx="1307592" cy="320040"/>
          </a:xfrm>
          <a:prstGeom prst="roundRect">
            <a:avLst>
              <a:gd name="adj" fmla="val 22857"/>
            </a:avLst>
          </a:prstGeom>
          <a:solidFill>
            <a:srgbClr val="FB8500">
              <a:alpha val="25000"/>
            </a:srgbClr>
          </a:solidFill>
          <a:ln w="1270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07238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" y="35021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 framework. High accuracy with regularization; ideal for tabular datasets with mixed features.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" y="4279392"/>
            <a:ext cx="4005072" cy="475488"/>
          </a:xfrm>
          <a:prstGeom prst="rect">
            <a:avLst/>
          </a:prstGeom>
          <a:solidFill>
            <a:srgbClr val="081A2E"/>
          </a:solidFill>
          <a:ln w="12700">
            <a:solidFill>
              <a:srgbClr val="FB850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4279392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XGBClassifier(eval_metric='logloss')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07792"/>
            <a:ext cx="4251960" cy="1965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907792"/>
            <a:ext cx="425196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044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1600" b="1" dirty="0" smtClean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Gradient Boosting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43800" y="3072384"/>
            <a:ext cx="1307592" cy="320040"/>
          </a:xfrm>
          <a:prstGeom prst="roundRect">
            <a:avLst>
              <a:gd name="adj" fmla="val 22857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307238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Optimization-Based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35021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optimization that iteratively updates model weights. n_estimators=100, learning_rate=0.1, max_depth=3.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4279392"/>
            <a:ext cx="4005072" cy="475488"/>
          </a:xfrm>
          <a:prstGeom prst="rect">
            <a:avLst/>
          </a:prstGeom>
          <a:solidFill>
            <a:srgbClr val="081A2E"/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4279392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GradientBoostingClassifier(n_estimators=100, lr=0.1)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00186453"/>
              </p:ext>
            </p:extLst>
          </p:nvPr>
        </p:nvGraphicFramePr>
        <p:xfrm>
          <a:off x="228600" y="804672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804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988810"/>
              </p:ext>
            </p:extLst>
          </p:nvPr>
        </p:nvGraphicFramePr>
        <p:xfrm>
          <a:off x="5440680" y="1188720"/>
          <a:ext cx="347472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1051560"/>
                <a:gridCol w="8686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</a:t>
                      </a:r>
                      <a:r>
                        <a:rPr lang="en-US" sz="1100" b="1" dirty="0" smtClean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FB8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8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</a:t>
                      </a:r>
                      <a:r>
                        <a:rPr lang="en-US" sz="1100" dirty="0" smtClean="0">
                          <a:solidFill>
                            <a:srgbClr val="FB8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90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  </a:t>
                      </a:r>
                      <a:r>
                        <a:rPr lang="en-US" sz="1100" dirty="0" smtClean="0">
                          <a:solidFill>
                            <a:srgbClr val="90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40680" y="3703320"/>
            <a:ext cx="3474720" cy="777240"/>
          </a:xfrm>
          <a:prstGeom prst="rect">
            <a:avLst/>
          </a:prstGeom>
          <a:solidFill>
            <a:srgbClr val="0A3322"/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40680" y="3703320"/>
            <a:ext cx="73152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7784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</a:t>
            </a:r>
            <a:r>
              <a:rPr lang="en-US" sz="13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</a:t>
            </a: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7784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78.84%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Random Forest Classifier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411480"/>
          </a:xfrm>
          <a:prstGeom prst="rect">
            <a:avLst/>
          </a:prstGeom>
          <a:solidFill>
            <a:srgbClr val="0A3322"/>
          </a:solidFill>
          <a:ln w="12700">
            <a:solidFill>
              <a:srgbClr val="0A33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</a:t>
            </a:r>
            <a:r>
              <a:rPr lang="en-US" sz="12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— Selected as Best Model  |  Accuracy: </a:t>
            </a:r>
            <a:r>
              <a:rPr lang="en-US" sz="12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78.84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|  Saved as best_model.pkl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Won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reduces variance significantly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feature types (numerical + categorical) natively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noisy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feature scaling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59359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scores for interpretability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096512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prone to overfitting than a single Decision Tree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20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500" b="1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9119" y="1508760"/>
            <a:ext cx="4646725" cy="3337560"/>
          </a:xfrm>
          <a:prstGeom prst="rect">
            <a:avLst/>
          </a:prstGeom>
          <a:solidFill>
            <a:srgbClr val="060E1A"/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02510" y="877824"/>
            <a:ext cx="3977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81912"/>
            <a:ext cx="4463844" cy="3212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8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Objective </a:t>
            </a: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binary classifier for hydration level prediction using 4 ML algorithms on 21,450 records.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6052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04672"/>
            <a:ext cx="73152" cy="1783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41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</a:t>
            </a:r>
            <a:r>
              <a:rPr lang="en-US" sz="1800" b="1" dirty="0" smtClean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</a:t>
            </a: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3990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highest accuracy (~</a:t>
            </a:r>
            <a:r>
              <a:rPr lang="en-US" sz="13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78.84</a:t>
            </a: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 and was selected as the final deployed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80360"/>
            <a:ext cx="73152" cy="1783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</a:t>
            </a:r>
            <a:r>
              <a:rPr lang="en-US" sz="1800" b="1" dirty="0" smtClean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</a:t>
            </a: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 and physical activity level are the strongest predictors of hydration status.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60520" cy="1783080"/>
          </a:xfrm>
          <a:prstGeom prst="rect">
            <a:avLst/>
          </a:prstGeom>
          <a:solidFill>
            <a:srgbClr val="0F3460"/>
          </a:solidFill>
          <a:ln w="1270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80360"/>
            <a:ext cx="73152" cy="178308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800" b="1" dirty="0" smtClean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Future </a:t>
            </a:r>
            <a:r>
              <a:rPr lang="en-US" sz="1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with real-time biometric sensors, add more features, and deploy as a mobile health app.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3461"/>
          </a:solidFill>
          <a:ln w="12700">
            <a:solidFill>
              <a:srgbClr val="0D34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Hydration Level Prediction  |  Binary Classification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200400"/>
            <a:ext cx="2286000" cy="2286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Hydration Levels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788920"/>
            <a:ext cx="6400800" cy="2743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99232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999232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99232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B8500">
              <a:alpha val="25000"/>
            </a:srgbClr>
          </a:solidFill>
          <a:ln w="12700">
            <a:solidFill>
              <a:srgbClr val="FB850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999232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Data Science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</TotalTime>
  <Words>916</Words>
  <Application>Microsoft Office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Hydration Level Prediction</dc:title>
  <dc:subject>PptxGenJS Presentation</dc:subject>
  <dc:creator>PptxGenJS</dc:creator>
  <cp:lastModifiedBy>admin</cp:lastModifiedBy>
  <cp:revision>18</cp:revision>
  <dcterms:created xsi:type="dcterms:W3CDTF">2026-03-22T03:56:03Z</dcterms:created>
  <dcterms:modified xsi:type="dcterms:W3CDTF">2026-03-27T00:44:36Z</dcterms:modified>
</cp:coreProperties>
</file>